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0" r:id="rId21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5.xml"/><Relationship Id="rId21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professional_brand_pitch_slide_poster_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4D3A"/>
                </a:solidFill>
              </a:defRPr>
            </a:pPr>
            <a:r>
              <a:t>The problem: India has a protein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863"/>
                </a:solidFill>
              </a:defRPr>
            </a:pPr>
            <a:r>
              <a:t>The opportunity is not only fitness — it is everyday nutrition.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B6C14"/>
                </a:solidFill>
              </a:defRPr>
            </a:pPr>
            <a:r>
              <a:t>73%</a:t>
            </a:r>
          </a:p>
          <a:p>
            <a:pPr algn="ctr">
              <a:defRPr sz="1000">
                <a:solidFill>
                  <a:srgbClr val="5F6863"/>
                </a:solidFill>
              </a:defRPr>
            </a:pPr>
            <a:r>
              <a:t>surveyed Indians consuming protein-deficient diets (IMRB study)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1732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B6C14"/>
                </a:solidFill>
              </a:defRPr>
            </a:pPr>
            <a:r>
              <a:t>74%</a:t>
            </a:r>
          </a:p>
          <a:p>
            <a:pPr algn="ctr">
              <a:defRPr sz="1000">
                <a:solidFill>
                  <a:srgbClr val="5F6863"/>
                </a:solidFill>
              </a:defRPr>
            </a:pPr>
            <a:r>
              <a:t>urban Indians unaware of the right daily protein amount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B6C14"/>
                </a:solidFill>
              </a:defRPr>
            </a:pPr>
            <a:r>
              <a:t>85%</a:t>
            </a:r>
          </a:p>
          <a:p>
            <a:pPr algn="ctr">
              <a:defRPr sz="1000">
                <a:solidFill>
                  <a:srgbClr val="5F6863"/>
                </a:solidFill>
              </a:defRPr>
            </a:pPr>
            <a:r>
              <a:t>urban respondents do not track protein intake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41732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B6C14"/>
                </a:solidFill>
              </a:defRPr>
            </a:pPr>
            <a:r>
              <a:t>71%</a:t>
            </a:r>
          </a:p>
          <a:p>
            <a:pPr algn="ctr">
              <a:defRPr sz="1000">
                <a:solidFill>
                  <a:srgbClr val="5F6863"/>
                </a:solidFill>
              </a:defRPr>
            </a:pPr>
            <a:r>
              <a:t>willing to switch to more affordable protein alternatives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10424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722"/>
                </a:solidFill>
              </a:defRPr>
            </a:pPr>
            <a:r>
              <a:t>Protein is often seen as a gym-only product.</a:t>
            </a:r>
          </a:p>
          <a:p>
            <a:pPr>
              <a:spcAft>
                <a:spcPts val="1000"/>
              </a:spcAft>
              <a:defRPr sz="1800">
                <a:solidFill>
                  <a:srgbClr val="1C2722"/>
                </a:solidFill>
              </a:defRPr>
            </a:pPr>
            <a:r>
              <a:t>Affordability, taste and dietary preferences are major barriers.</a:t>
            </a:r>
          </a:p>
          <a:p>
            <a:pPr>
              <a:spcAft>
                <a:spcPts val="1000"/>
              </a:spcAft>
              <a:defRPr sz="1800">
                <a:solidFill>
                  <a:srgbClr val="1C2722"/>
                </a:solidFill>
              </a:defRPr>
            </a:pPr>
            <a:r>
              <a:t>Consumers need protein that fits Indian eating habits — not another expensive tub.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863"/>
                </a:solidFill>
              </a:defRPr>
            </a:pPr>
            <a:r>
              <a:t>PROTEENSNAX  |  Pitch Deck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4D3A"/>
                </a:solidFill>
              </a:defRPr>
            </a:pPr>
            <a:r>
              <a:t>Market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863"/>
                </a:solidFill>
              </a:defRPr>
            </a:pPr>
            <a:r>
              <a:t>Protein is moving from niche sports nutrition to mass everyday food.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B6C14"/>
                </a:solidFill>
              </a:defRPr>
            </a:pPr>
            <a:r>
              <a:t>$912.9M</a:t>
            </a:r>
          </a:p>
          <a:p>
            <a:pPr algn="ctr">
              <a:defRPr sz="1000">
                <a:solidFill>
                  <a:srgbClr val="5F6863"/>
                </a:solidFill>
              </a:defRPr>
            </a:pPr>
            <a:r>
              <a:t>India protein supplements market,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1732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B6C14"/>
                </a:solidFill>
              </a:defRPr>
            </a:pPr>
            <a:r>
              <a:t>$1.58B</a:t>
            </a:r>
          </a:p>
          <a:p>
            <a:pPr algn="ctr">
              <a:defRPr sz="1000">
                <a:solidFill>
                  <a:srgbClr val="5F6863"/>
                </a:solidFill>
              </a:defRPr>
            </a:pPr>
            <a:r>
              <a:t>projected market by 2034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B6C14"/>
                </a:solidFill>
              </a:defRPr>
            </a:pPr>
            <a:r>
              <a:t>6.27%</a:t>
            </a:r>
          </a:p>
          <a:p>
            <a:pPr algn="ctr">
              <a:defRPr sz="1000">
                <a:solidFill>
                  <a:srgbClr val="5F6863"/>
                </a:solidFill>
              </a:defRPr>
            </a:pPr>
            <a:r>
              <a:t>reported CAGR, 2026–2034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41732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B6C14"/>
                </a:solidFill>
              </a:defRPr>
            </a:pPr>
            <a:r>
              <a:t>₹</a:t>
            </a:r>
          </a:p>
          <a:p>
            <a:pPr algn="ctr">
              <a:defRPr sz="1000">
                <a:solidFill>
                  <a:srgbClr val="5F6863"/>
                </a:solidFill>
              </a:defRPr>
            </a:pPr>
            <a:r>
              <a:t>affordability is a key adoption lever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10515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C2722"/>
                </a:solidFill>
              </a:defRPr>
            </a:pPr>
            <a:r>
              <a:t>2026 consumer research: 60% of urban respondents were reported protein-deficient; 71% said they would switch to affordable alternatives.</a:t>
            </a:r>
          </a:p>
          <a:p>
            <a:pPr>
              <a:spcAft>
                <a:spcPts val="1000"/>
              </a:spcAft>
              <a:defRPr sz="1700">
                <a:solidFill>
                  <a:srgbClr val="1C2722"/>
                </a:solidFill>
              </a:defRPr>
            </a:pPr>
            <a:r>
              <a:t>Plant-based protein is among the fastest-growing segments.</a:t>
            </a:r>
          </a:p>
          <a:p>
            <a:pPr>
              <a:spcAft>
                <a:spcPts val="1000"/>
              </a:spcAft>
              <a:defRPr sz="1700">
                <a:solidFill>
                  <a:srgbClr val="1C2722"/>
                </a:solidFill>
              </a:defRPr>
            </a:pPr>
            <a:r>
              <a:t>Smaller packs and sachets are already being used to reduce the entry barrier.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863"/>
                </a:solidFill>
              </a:defRPr>
            </a:pPr>
            <a:r>
              <a:t>PROTEENSNAX  |  Pitch Deck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4D3A"/>
                </a:solidFill>
              </a:defRPr>
            </a:pPr>
            <a:r>
              <a:t>The solution: PROTEENSNAX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863"/>
                </a:solidFill>
              </a:defRPr>
            </a:pPr>
            <a:r>
              <a:t>One brand that makes protein easier to buy, verify and eat every 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1089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B6C14"/>
                </a:solidFill>
              </a:defRPr>
            </a:pPr>
            <a:r>
              <a:t>AFFORDABLE</a:t>
            </a:r>
          </a:p>
          <a:p>
            <a:pPr algn="ctr">
              <a:defRPr sz="1500">
                <a:solidFill>
                  <a:srgbClr val="1C2722"/>
                </a:solidFill>
              </a:defRPr>
            </a:pPr>
            <a:r>
              <a:t>Target price below premium protein brands</a:t>
            </a:r>
          </a:p>
          <a:p>
            <a:pPr algn="ctr">
              <a:defRPr sz="2800">
                <a:solidFill>
                  <a:srgbClr val="134D3A"/>
                </a:solidFill>
              </a:defRPr>
            </a:pPr>
            <a:r>
              <a:t>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463040"/>
            <a:ext cx="31089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B6C14"/>
                </a:solidFill>
              </a:defRPr>
            </a:pPr>
            <a:r>
              <a:t>VERIFIABLE</a:t>
            </a:r>
          </a:p>
          <a:p>
            <a:pPr algn="ctr">
              <a:defRPr sz="1500">
                <a:solidFill>
                  <a:srgbClr val="1C2722"/>
                </a:solidFill>
              </a:defRPr>
            </a:pPr>
            <a:r>
              <a:t>QR → batch-wise COA / lab report</a:t>
            </a:r>
          </a:p>
          <a:p>
            <a:pPr algn="ctr">
              <a:defRPr sz="2800">
                <a:solidFill>
                  <a:srgbClr val="134D3A"/>
                </a:solidFill>
              </a:defRPr>
            </a:pPr>
            <a:r>
              <a:t>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463040"/>
            <a:ext cx="31089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B6C14"/>
                </a:solidFill>
              </a:defRPr>
            </a:pPr>
            <a:r>
              <a:t>INDIAN-FIRST</a:t>
            </a:r>
          </a:p>
          <a:p>
            <a:pPr algn="ctr">
              <a:defRPr sz="1500">
                <a:solidFill>
                  <a:srgbClr val="1C2722"/>
                </a:solidFill>
              </a:defRPr>
            </a:pPr>
            <a:r>
              <a:t>Protein in familiar snacks &amp; flavours</a:t>
            </a:r>
          </a:p>
          <a:p>
            <a:pPr algn="ctr">
              <a:defRPr sz="2800">
                <a:solidFill>
                  <a:srgbClr val="134D3A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C2722"/>
                </a:solidFill>
              </a:defRPr>
            </a:pPr>
            <a:r>
              <a:t>Core promise: 25g protein options without a premium-only positioning.</a:t>
            </a:r>
          </a:p>
          <a:p>
            <a:pPr>
              <a:spcAft>
                <a:spcPts val="1000"/>
              </a:spcAft>
              <a:defRPr sz="1400">
                <a:solidFill>
                  <a:srgbClr val="1C2722"/>
                </a:solidFill>
              </a:defRPr>
            </a:pPr>
            <a:r>
              <a:t>Build trust with transparent testing rather than vague 'lab tested' language.</a:t>
            </a:r>
          </a:p>
          <a:p>
            <a:pPr>
              <a:spcAft>
                <a:spcPts val="1000"/>
              </a:spcAft>
              <a:defRPr sz="1400">
                <a:solidFill>
                  <a:srgbClr val="1C2722"/>
                </a:solidFill>
              </a:defRPr>
            </a:pPr>
            <a:r>
              <a:t>Start D2C + gyms + campuses + modern retail; expand to general trade.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863"/>
                </a:solidFill>
              </a:defRPr>
            </a:pPr>
            <a:r>
              <a:t>PROTEENSNAX  |  Pitch Deck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4D3A"/>
                </a:solidFill>
              </a:defRPr>
            </a:pPr>
            <a:r>
              <a:t>Product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863"/>
                </a:solidFill>
              </a:defRPr>
            </a:pPr>
            <a:r>
              <a:t>From a daily shake to Indian-style protein snacking.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4D3A"/>
                </a:solidFill>
              </a:defRPr>
            </a:pPr>
            <a:r>
              <a:t>Protein Powder</a:t>
            </a:r>
          </a:p>
          <a:p>
            <a:pPr>
              <a:defRPr sz="1000">
                <a:solidFill>
                  <a:srgbClr val="5F6863"/>
                </a:solidFill>
              </a:defRPr>
            </a:pPr>
            <a:r>
              <a:t>1 kg / 2 kg  |  25g protein serving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4D3A"/>
                </a:solidFill>
              </a:defRPr>
            </a:pPr>
            <a:r>
              <a:t>Protein Sachet</a:t>
            </a:r>
          </a:p>
          <a:p>
            <a:pPr>
              <a:defRPr sz="1000">
                <a:solidFill>
                  <a:srgbClr val="5F6863"/>
                </a:solidFill>
              </a:defRPr>
            </a:pPr>
            <a:r>
              <a:t>~30–35g fill  |  25g protein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94560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4D3A"/>
                </a:solidFill>
              </a:defRPr>
            </a:pPr>
            <a:r>
              <a:t>Protein Bars</a:t>
            </a:r>
          </a:p>
          <a:p>
            <a:pPr>
              <a:defRPr sz="1000">
                <a:solidFill>
                  <a:srgbClr val="5F6863"/>
                </a:solidFill>
              </a:defRPr>
            </a:pPr>
            <a:r>
              <a:t>40–70g  |  15–20g protein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94560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4D3A"/>
                </a:solidFill>
              </a:defRPr>
            </a:pPr>
            <a:r>
              <a:t>Protein Bhujia</a:t>
            </a:r>
          </a:p>
          <a:p>
            <a:pPr>
              <a:defRPr sz="1000">
                <a:solidFill>
                  <a:srgbClr val="5F6863"/>
                </a:solidFill>
              </a:defRPr>
            </a:pPr>
            <a:r>
              <a:t>Soya + chickpea  |  10–15g / serving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54680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4D3A"/>
                </a:solidFill>
              </a:defRPr>
            </a:pPr>
            <a:r>
              <a:t>Diet Khakhra</a:t>
            </a:r>
          </a:p>
          <a:p>
            <a:pPr>
              <a:defRPr sz="1000">
                <a:solidFill>
                  <a:srgbClr val="5F6863"/>
                </a:solidFill>
              </a:defRPr>
            </a:pPr>
            <a:r>
              <a:t>Whey + plant protein  |  10–15g / serving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154680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4D3A"/>
                </a:solidFill>
              </a:defRPr>
            </a:pPr>
            <a:r>
              <a:t>High-Protein Murukku</a:t>
            </a:r>
          </a:p>
          <a:p>
            <a:pPr>
              <a:defRPr sz="1000">
                <a:solidFill>
                  <a:srgbClr val="5F6863"/>
                </a:solidFill>
              </a:defRPr>
            </a:pPr>
            <a:r>
              <a:t>Indian savoury  |  10–12g / serving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114800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4D3A"/>
                </a:solidFill>
              </a:defRPr>
            </a:pPr>
            <a:r>
              <a:t>Whey-Coated Masala Makhana</a:t>
            </a:r>
          </a:p>
          <a:p>
            <a:pPr>
              <a:defRPr sz="1000">
                <a:solidFill>
                  <a:srgbClr val="5F6863"/>
                </a:solidFill>
              </a:defRPr>
            </a:pPr>
            <a:r>
              <a:t>Roasted  |  8–12g / serving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114800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4D3A"/>
                </a:solidFill>
              </a:defRPr>
            </a:pPr>
            <a:r>
              <a:t>Roasted Chana Jor Garam</a:t>
            </a:r>
          </a:p>
          <a:p>
            <a:pPr>
              <a:defRPr sz="1000">
                <a:solidFill>
                  <a:srgbClr val="5F6863"/>
                </a:solidFill>
              </a:defRPr>
            </a:pPr>
            <a:r>
              <a:t>Roasted chana  |  8–12g / serving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074920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4D3A"/>
                </a:solidFill>
              </a:defRPr>
            </a:pPr>
            <a:r>
              <a:t>Roasted Oats &amp; Rusk</a:t>
            </a:r>
          </a:p>
          <a:p>
            <a:pPr>
              <a:defRPr sz="1000">
                <a:solidFill>
                  <a:srgbClr val="5F6863"/>
                </a:solidFill>
              </a:defRPr>
            </a:pPr>
            <a:r>
              <a:t>Crunchy snack  |  8–12g / serving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5074920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4D3A"/>
                </a:solidFill>
              </a:defRPr>
            </a:pPr>
            <a:r>
              <a:t>Gur Chana + Peanut Bites</a:t>
            </a:r>
          </a:p>
          <a:p>
            <a:pPr>
              <a:defRPr sz="1000">
                <a:solidFill>
                  <a:srgbClr val="5F6863"/>
                </a:solidFill>
              </a:defRPr>
            </a:pPr>
            <a:r>
              <a:t>Traditional format  |  8–10g / serving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863"/>
                </a:solidFill>
              </a:defRPr>
            </a:pPr>
            <a:r>
              <a:t>PROTEENSNAX  |  Pitch Deck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4D3A"/>
                </a:solidFill>
              </a:defRPr>
            </a:pPr>
            <a:r>
              <a:t>The formulation edge: whey + plant + bio-fermented yeast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863"/>
                </a:solidFill>
              </a:defRPr>
            </a:pPr>
            <a:r>
              <a:t>Use the right protein for the right consumer and format.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C2722"/>
                </a:solidFill>
              </a:defRPr>
            </a:pPr>
            <a:r>
              <a:t>• Whey: high-quality dairy protein; strong fit for mainstream performance nutrition.</a:t>
            </a:r>
          </a:p>
          <a:p>
            <a:pPr>
              <a:spcAft>
                <a:spcPts val="1000"/>
              </a:spcAft>
              <a:defRPr sz="1600">
                <a:solidFill>
                  <a:srgbClr val="1C2722"/>
                </a:solidFill>
              </a:defRPr>
            </a:pPr>
            <a:r>
              <a:t>• Plant blend: soy/chickpea/pea options improve vegetarian accessibility and ingredient flexibility.</a:t>
            </a:r>
          </a:p>
          <a:p>
            <a:pPr>
              <a:spcAft>
                <a:spcPts val="1000"/>
              </a:spcAft>
              <a:defRPr sz="1600">
                <a:solidFill>
                  <a:srgbClr val="1C2722"/>
                </a:solidFill>
              </a:defRPr>
            </a:pPr>
            <a:r>
              <a:t>• Bio-fermented yeast protein: a newer complete-protein category; food-grade yeast is grown by controlled fermentation and the protein fraction is recovered.</a:t>
            </a:r>
          </a:p>
          <a:p>
            <a:pPr>
              <a:spcAft>
                <a:spcPts val="1000"/>
              </a:spcAft>
              <a:defRPr sz="1600">
                <a:solidFill>
                  <a:srgbClr val="1C2722"/>
                </a:solidFill>
              </a:defRPr>
            </a:pPr>
            <a:r>
              <a:t>• Position fermentation around digestibility / taste / formulation — avoid unsubstantiated medical claims.</a:t>
            </a:r>
          </a:p>
          <a:p>
            <a:pPr>
              <a:spcAft>
                <a:spcPts val="1000"/>
              </a:spcAft>
              <a:defRPr sz="1600">
                <a:solidFill>
                  <a:srgbClr val="1C2722"/>
                </a:solidFill>
              </a:defRPr>
            </a:pPr>
            <a:r>
              <a:t>• Final formula and protein claims must be validated by accredited labs and cleared under applicable FSSAI rules.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508760"/>
            <a:ext cx="3474720" cy="3566160"/>
          </a:xfrm>
          <a:prstGeom prst="roundRect">
            <a:avLst/>
          </a:prstGeom>
          <a:solidFill>
            <a:srgbClr val="13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BIO-FERMENTED YEAST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✓ Complete protein potential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✓ Dairy-free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✓ Soy-free option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✓ Fermentation-led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863"/>
                </a:solidFill>
              </a:defRPr>
            </a:pPr>
            <a:r>
              <a:t>PROTEENSNAX  |  Pitch Deck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4D3A"/>
                </a:solidFill>
              </a:defRPr>
            </a:pPr>
            <a:r>
              <a:t>Trust built into the pack: QR-enabled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863"/>
                </a:solidFill>
              </a:defRPr>
            </a:pPr>
            <a:r>
              <a:t>A proposed system — not a claim that the startup already has these reports.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C2722"/>
                </a:solidFill>
              </a:defRPr>
            </a:pPr>
            <a:r>
              <a:t>Every batch gets a unique QR / batch ID.</a:t>
            </a:r>
          </a:p>
          <a:p>
            <a:pPr>
              <a:spcAft>
                <a:spcPts val="1000"/>
              </a:spcAft>
              <a:defRPr sz="1600">
                <a:solidFill>
                  <a:srgbClr val="1C2722"/>
                </a:solidFill>
              </a:defRPr>
            </a:pPr>
            <a:r>
              <a:t>Scan → batch COA: protein %, amino-acid profile, microbiology, heavy metals and relevant safety parameters.</a:t>
            </a:r>
          </a:p>
          <a:p>
            <a:pPr>
              <a:spcAft>
                <a:spcPts val="1000"/>
              </a:spcAft>
              <a:defRPr sz="1600">
                <a:solidFill>
                  <a:srgbClr val="1C2722"/>
                </a:solidFill>
              </a:defRPr>
            </a:pPr>
            <a:r>
              <a:t>Show lab name, test date, sample/batch number and report PDF.</a:t>
            </a:r>
          </a:p>
          <a:p>
            <a:pPr>
              <a:spcAft>
                <a:spcPts val="1000"/>
              </a:spcAft>
              <a:defRPr sz="1600">
                <a:solidFill>
                  <a:srgbClr val="1C2722"/>
                </a:solidFill>
              </a:defRPr>
            </a:pPr>
            <a:r>
              <a:t>Use independent accredited testing where practical; maintain a public verification trail.</a:t>
            </a:r>
          </a:p>
          <a:p>
            <a:pPr>
              <a:spcAft>
                <a:spcPts val="1000"/>
              </a:spcAft>
              <a:defRPr sz="1600">
                <a:solidFill>
                  <a:srgbClr val="1C2722"/>
                </a:solidFill>
              </a:defRPr>
            </a:pPr>
            <a:r>
              <a:t>The QR becomes a brand trust asset — 'Don't just believe the label. Verify the batch.'</a:t>
            </a:r>
          </a:p>
        </p:txBody>
      </p:sp>
      <p:sp>
        <p:nvSpPr>
          <p:cNvPr id="6" name="Rectangle 5"/>
          <p:cNvSpPr/>
          <p:nvPr/>
        </p:nvSpPr>
        <p:spPr>
          <a:xfrm>
            <a:off x="8321040" y="1645920"/>
            <a:ext cx="219456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13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58200" y="1783080"/>
            <a:ext cx="164592" cy="164592"/>
          </a:xfrm>
          <a:prstGeom prst="rect">
            <a:avLst/>
          </a:prstGeom>
          <a:solidFill>
            <a:srgbClr val="13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26296" y="1783080"/>
            <a:ext cx="164592" cy="164592"/>
          </a:xfrm>
          <a:prstGeom prst="rect">
            <a:avLst/>
          </a:prstGeom>
          <a:solidFill>
            <a:srgbClr val="13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94392" y="1783080"/>
            <a:ext cx="164592" cy="164592"/>
          </a:xfrm>
          <a:prstGeom prst="rect">
            <a:avLst/>
          </a:prstGeom>
          <a:solidFill>
            <a:srgbClr val="13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14232" y="2039112"/>
            <a:ext cx="164592" cy="164592"/>
          </a:xfrm>
          <a:prstGeom prst="rect">
            <a:avLst/>
          </a:prstGeom>
          <a:solidFill>
            <a:srgbClr val="13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82328" y="2039112"/>
            <a:ext cx="164592" cy="164592"/>
          </a:xfrm>
          <a:prstGeom prst="rect">
            <a:avLst/>
          </a:prstGeom>
          <a:solidFill>
            <a:srgbClr val="13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58200" y="2551176"/>
            <a:ext cx="164592" cy="164592"/>
          </a:xfrm>
          <a:prstGeom prst="rect">
            <a:avLst/>
          </a:prstGeom>
          <a:solidFill>
            <a:srgbClr val="13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26296" y="2551176"/>
            <a:ext cx="164592" cy="164592"/>
          </a:xfrm>
          <a:prstGeom prst="rect">
            <a:avLst/>
          </a:prstGeom>
          <a:solidFill>
            <a:srgbClr val="13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94392" y="2551176"/>
            <a:ext cx="164592" cy="164592"/>
          </a:xfrm>
          <a:prstGeom prst="rect">
            <a:avLst/>
          </a:prstGeom>
          <a:solidFill>
            <a:srgbClr val="13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14232" y="2807208"/>
            <a:ext cx="164592" cy="164592"/>
          </a:xfrm>
          <a:prstGeom prst="rect">
            <a:avLst/>
          </a:prstGeom>
          <a:solidFill>
            <a:srgbClr val="13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82328" y="2807208"/>
            <a:ext cx="164592" cy="164592"/>
          </a:xfrm>
          <a:prstGeom prst="rect">
            <a:avLst/>
          </a:prstGeom>
          <a:solidFill>
            <a:srgbClr val="13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58200" y="3319272"/>
            <a:ext cx="164592" cy="164592"/>
          </a:xfrm>
          <a:prstGeom prst="rect">
            <a:avLst/>
          </a:prstGeom>
          <a:solidFill>
            <a:srgbClr val="13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26296" y="3319272"/>
            <a:ext cx="164592" cy="164592"/>
          </a:xfrm>
          <a:prstGeom prst="rect">
            <a:avLst/>
          </a:prstGeom>
          <a:solidFill>
            <a:srgbClr val="13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994392" y="3319272"/>
            <a:ext cx="164592" cy="164592"/>
          </a:xfrm>
          <a:prstGeom prst="rect">
            <a:avLst/>
          </a:prstGeom>
          <a:solidFill>
            <a:srgbClr val="13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40690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B6C14"/>
                </a:solidFill>
              </a:defRPr>
            </a:pPr>
            <a:r>
              <a:t>SCAN → 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863"/>
                </a:solidFill>
              </a:defRPr>
            </a:pPr>
            <a:r>
              <a:t>PROTEENSNAX  |  Pitch Deck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4D3A"/>
                </a:solidFill>
              </a:defRPr>
            </a:pPr>
            <a:r>
              <a:t>Proposed launch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863"/>
                </a:solidFill>
              </a:defRPr>
            </a:pPr>
            <a:r>
              <a:t>Illustrative target MRPs — validate with supplier quotes, GST, packaging and channel margins.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46634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2722"/>
                </a:solidFill>
              </a:defRPr>
            </a:pPr>
            <a:r>
              <a:t>Protein Powder 1 kg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59" y="1234440"/>
            <a:ext cx="2926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C2722"/>
                </a:solidFill>
              </a:defRPr>
            </a:pPr>
            <a:r>
              <a:t>~25g/serve</a:t>
            </a:r>
          </a:p>
        </p:txBody>
      </p:sp>
      <p:sp>
        <p:nvSpPr>
          <p:cNvPr id="7" name="Rectangle 6"/>
          <p:cNvSpPr/>
          <p:nvPr/>
        </p:nvSpPr>
        <p:spPr>
          <a:xfrm>
            <a:off x="8321040" y="1234440"/>
            <a:ext cx="2103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34D3A"/>
                </a:solidFill>
              </a:defRPr>
            </a:pPr>
            <a:r>
              <a:t>₹1,599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27632"/>
            <a:ext cx="4663440" cy="393192"/>
          </a:xfrm>
          <a:prstGeom prst="rect">
            <a:avLst/>
          </a:prstGeom>
          <a:solidFill>
            <a:srgbClr val="F0ECE0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2722"/>
                </a:solidFill>
              </a:defRPr>
            </a:pPr>
            <a:r>
              <a:t>Protein Powder 2 kg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59" y="1627632"/>
            <a:ext cx="2926080" cy="393192"/>
          </a:xfrm>
          <a:prstGeom prst="rect">
            <a:avLst/>
          </a:prstGeom>
          <a:solidFill>
            <a:srgbClr val="F0ECE0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C2722"/>
                </a:solidFill>
              </a:defRPr>
            </a:pPr>
            <a:r>
              <a:t>~25g/serve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1627632"/>
            <a:ext cx="2103120" cy="393192"/>
          </a:xfrm>
          <a:prstGeom prst="rect">
            <a:avLst/>
          </a:prstGeom>
          <a:solidFill>
            <a:srgbClr val="F0ECE0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34D3A"/>
                </a:solidFill>
              </a:defRPr>
            </a:pPr>
            <a:r>
              <a:t>₹2,899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020824"/>
            <a:ext cx="46634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2722"/>
                </a:solidFill>
              </a:defRPr>
            </a:pPr>
            <a:r>
              <a:t>25g Protein Sachet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59" y="2020824"/>
            <a:ext cx="2926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C2722"/>
                </a:solidFill>
              </a:defRPr>
            </a:pPr>
            <a:r>
              <a:t>1 serving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2020824"/>
            <a:ext cx="2103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34D3A"/>
                </a:solidFill>
              </a:defRPr>
            </a:pPr>
            <a:r>
              <a:t>₹69–79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414016"/>
            <a:ext cx="4663440" cy="393192"/>
          </a:xfrm>
          <a:prstGeom prst="rect">
            <a:avLst/>
          </a:prstGeom>
          <a:solidFill>
            <a:srgbClr val="F0ECE0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2722"/>
                </a:solidFill>
              </a:defRPr>
            </a:pPr>
            <a:r>
              <a:t>Protein Bar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59" y="2414016"/>
            <a:ext cx="2926080" cy="393192"/>
          </a:xfrm>
          <a:prstGeom prst="rect">
            <a:avLst/>
          </a:prstGeom>
          <a:solidFill>
            <a:srgbClr val="F0ECE0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C2722"/>
                </a:solidFill>
              </a:defRPr>
            </a:pPr>
            <a:r>
              <a:t>15g protein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414016"/>
            <a:ext cx="2103120" cy="393192"/>
          </a:xfrm>
          <a:prstGeom prst="rect">
            <a:avLst/>
          </a:prstGeom>
          <a:solidFill>
            <a:srgbClr val="F0ECE0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34D3A"/>
                </a:solidFill>
              </a:defRPr>
            </a:pPr>
            <a:r>
              <a:t>₹59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807208"/>
            <a:ext cx="46634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2722"/>
                </a:solidFill>
              </a:defRPr>
            </a:pPr>
            <a:r>
              <a:t>Protein Bar Pro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59" y="2807208"/>
            <a:ext cx="2926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C2722"/>
                </a:solidFill>
              </a:defRPr>
            </a:pPr>
            <a:r>
              <a:t>20g protein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2807208"/>
            <a:ext cx="2103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34D3A"/>
                </a:solidFill>
              </a:defRPr>
            </a:pPr>
            <a:r>
              <a:t>₹79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200400"/>
            <a:ext cx="4663440" cy="393192"/>
          </a:xfrm>
          <a:prstGeom prst="rect">
            <a:avLst/>
          </a:prstGeom>
          <a:solidFill>
            <a:srgbClr val="F0ECE0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2722"/>
                </a:solidFill>
              </a:defRPr>
            </a:pPr>
            <a:r>
              <a:t>Protein Bhujia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59" y="3200400"/>
            <a:ext cx="2926080" cy="393192"/>
          </a:xfrm>
          <a:prstGeom prst="rect">
            <a:avLst/>
          </a:prstGeom>
          <a:solidFill>
            <a:srgbClr val="F0ECE0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C2722"/>
                </a:solidFill>
              </a:defRPr>
            </a:pPr>
            <a:r>
              <a:t>100g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3200400"/>
            <a:ext cx="2103120" cy="393192"/>
          </a:xfrm>
          <a:prstGeom prst="rect">
            <a:avLst/>
          </a:prstGeom>
          <a:solidFill>
            <a:srgbClr val="F0ECE0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34D3A"/>
                </a:solidFill>
              </a:defRPr>
            </a:pPr>
            <a:r>
              <a:t>₹79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593592"/>
            <a:ext cx="46634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2722"/>
                </a:solidFill>
              </a:defRPr>
            </a:pPr>
            <a:r>
              <a:t>Diet Khakhra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59" y="3593592"/>
            <a:ext cx="2926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C2722"/>
                </a:solidFill>
              </a:defRPr>
            </a:pPr>
            <a:r>
              <a:t>100g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3593592"/>
            <a:ext cx="2103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34D3A"/>
                </a:solidFill>
              </a:defRPr>
            </a:pPr>
            <a:r>
              <a:t>₹89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986783"/>
            <a:ext cx="4663440" cy="393192"/>
          </a:xfrm>
          <a:prstGeom prst="rect">
            <a:avLst/>
          </a:prstGeom>
          <a:solidFill>
            <a:srgbClr val="F0ECE0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2722"/>
                </a:solidFill>
              </a:defRPr>
            </a:pPr>
            <a:r>
              <a:t>High-Protein Murukku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59" y="3986783"/>
            <a:ext cx="2926080" cy="393192"/>
          </a:xfrm>
          <a:prstGeom prst="rect">
            <a:avLst/>
          </a:prstGeom>
          <a:solidFill>
            <a:srgbClr val="F0ECE0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C2722"/>
                </a:solidFill>
              </a:defRPr>
            </a:pPr>
            <a:r>
              <a:t>100g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3986783"/>
            <a:ext cx="2103120" cy="393192"/>
          </a:xfrm>
          <a:prstGeom prst="rect">
            <a:avLst/>
          </a:prstGeom>
          <a:solidFill>
            <a:srgbClr val="F0ECE0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34D3A"/>
                </a:solidFill>
              </a:defRPr>
            </a:pPr>
            <a:r>
              <a:t>₹99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379976"/>
            <a:ext cx="46634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2722"/>
                </a:solidFill>
              </a:defRPr>
            </a:pPr>
            <a:r>
              <a:t>Whey Masala Makhana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94959" y="4379976"/>
            <a:ext cx="2926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C2722"/>
                </a:solidFill>
              </a:defRPr>
            </a:pPr>
            <a:r>
              <a:t>60g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4379976"/>
            <a:ext cx="2103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34D3A"/>
                </a:solidFill>
              </a:defRPr>
            </a:pPr>
            <a:r>
              <a:t>₹99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773168"/>
            <a:ext cx="4663440" cy="393192"/>
          </a:xfrm>
          <a:prstGeom prst="rect">
            <a:avLst/>
          </a:prstGeom>
          <a:solidFill>
            <a:srgbClr val="F0ECE0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2722"/>
                </a:solidFill>
              </a:defRPr>
            </a:pPr>
            <a:r>
              <a:t>Roasted Chana Jor Garam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94959" y="4773168"/>
            <a:ext cx="2926080" cy="393192"/>
          </a:xfrm>
          <a:prstGeom prst="rect">
            <a:avLst/>
          </a:prstGeom>
          <a:solidFill>
            <a:srgbClr val="F0ECE0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C2722"/>
                </a:solidFill>
              </a:defRPr>
            </a:pPr>
            <a:r>
              <a:t>100g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4773168"/>
            <a:ext cx="2103120" cy="393192"/>
          </a:xfrm>
          <a:prstGeom prst="rect">
            <a:avLst/>
          </a:prstGeom>
          <a:solidFill>
            <a:srgbClr val="F0ECE0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34D3A"/>
                </a:solidFill>
              </a:defRPr>
            </a:pPr>
            <a:r>
              <a:t>₹59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166360"/>
            <a:ext cx="46634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2722"/>
                </a:solidFill>
              </a:defRPr>
            </a:pPr>
            <a:r>
              <a:t>Roasted Oats &amp; Rusk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94959" y="5166360"/>
            <a:ext cx="29260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C2722"/>
                </a:solidFill>
              </a:defRPr>
            </a:pPr>
            <a:r>
              <a:t>100g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5166360"/>
            <a:ext cx="2103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34D3A"/>
                </a:solidFill>
              </a:defRPr>
            </a:pPr>
            <a:r>
              <a:t>₹69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559552"/>
            <a:ext cx="4663440" cy="393192"/>
          </a:xfrm>
          <a:prstGeom prst="rect">
            <a:avLst/>
          </a:prstGeom>
          <a:solidFill>
            <a:srgbClr val="F0ECE0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2722"/>
                </a:solidFill>
              </a:defRPr>
            </a:pPr>
            <a:r>
              <a:t>Gur Chana + Peanut Bites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94959" y="5559552"/>
            <a:ext cx="2926080" cy="393192"/>
          </a:xfrm>
          <a:prstGeom prst="rect">
            <a:avLst/>
          </a:prstGeom>
          <a:solidFill>
            <a:srgbClr val="F0ECE0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C2722"/>
                </a:solidFill>
              </a:defRPr>
            </a:pPr>
            <a:r>
              <a:t>100g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5559552"/>
            <a:ext cx="2103120" cy="393192"/>
          </a:xfrm>
          <a:prstGeom prst="rect">
            <a:avLst/>
          </a:prstGeom>
          <a:solidFill>
            <a:srgbClr val="F0ECE0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34D3A"/>
                </a:solidFill>
              </a:defRPr>
            </a:pPr>
            <a:r>
              <a:t>₹69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863"/>
                </a:solidFill>
              </a:defRPr>
            </a:pPr>
            <a:r>
              <a:t>PROTEENSNAX  |  Pitch Deck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4D3A"/>
                </a:solidFill>
              </a:defRPr>
            </a:pPr>
            <a:r>
              <a:t>Illustrative unit economics: 1 kg powder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863"/>
                </a:solidFill>
              </a:defRPr>
            </a:pPr>
            <a:r>
              <a:t>Target economics — final COGS depends on formulation, protein source, MOQ and channel.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B6C14"/>
                </a:solidFill>
              </a:defRPr>
            </a:pPr>
            <a:r>
              <a:t>₹1,599</a:t>
            </a:r>
          </a:p>
          <a:p>
            <a:pPr algn="ctr">
              <a:defRPr sz="1000">
                <a:solidFill>
                  <a:srgbClr val="5F6863"/>
                </a:solidFill>
              </a:defRPr>
            </a:pPr>
            <a:r>
              <a:t>target MRP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7160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B6C14"/>
                </a:solidFill>
              </a:defRPr>
            </a:pPr>
            <a:r>
              <a:t>₹780–900</a:t>
            </a:r>
          </a:p>
          <a:p>
            <a:pPr algn="ctr">
              <a:defRPr sz="1000">
                <a:solidFill>
                  <a:srgbClr val="5F6863"/>
                </a:solidFill>
              </a:defRPr>
            </a:pPr>
            <a:r>
              <a:t>target landed COGS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B6C14"/>
                </a:solidFill>
              </a:defRPr>
            </a:pPr>
            <a:r>
              <a:t>₹699–819</a:t>
            </a:r>
          </a:p>
          <a:p>
            <a:pPr algn="ctr">
              <a:defRPr sz="1000">
                <a:solidFill>
                  <a:srgbClr val="5F6863"/>
                </a:solidFill>
              </a:defRPr>
            </a:pPr>
            <a:r>
              <a:t>gross contribution before selling/channel costs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37160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B6C14"/>
                </a:solidFill>
              </a:defRPr>
            </a:pPr>
            <a:r>
              <a:t>44–51%</a:t>
            </a:r>
          </a:p>
          <a:p>
            <a:pPr algn="ctr">
              <a:defRPr sz="1000">
                <a:solidFill>
                  <a:srgbClr val="5F6863"/>
                </a:solidFill>
              </a:defRPr>
            </a:pPr>
            <a:r>
              <a:t>illustrative gross margin on MRP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10424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C2722"/>
                </a:solidFill>
              </a:defRPr>
            </a:pPr>
            <a:r>
              <a:t>COGS bucket: protein ingredients + flavour system + sweetener + packaging + manufacturing + QC + freight.</a:t>
            </a:r>
          </a:p>
          <a:p>
            <a:pPr>
              <a:spcAft>
                <a:spcPts val="1000"/>
              </a:spcAft>
              <a:defRPr sz="1600">
                <a:solidFill>
                  <a:srgbClr val="1C2722"/>
                </a:solidFill>
              </a:defRPr>
            </a:pPr>
            <a:r>
              <a:t>Direct-to-consumer gives better early economics; marketplace/retail needs distributor + retailer margins.</a:t>
            </a:r>
          </a:p>
          <a:p>
            <a:pPr>
              <a:spcAft>
                <a:spcPts val="1000"/>
              </a:spcAft>
              <a:defRPr sz="1600">
                <a:solidFill>
                  <a:srgbClr val="1C2722"/>
                </a:solidFill>
              </a:defRPr>
            </a:pPr>
            <a:r>
              <a:t>Sachets are acquisition SKUs; 1 kg / 2 kg packs are retention &amp; margin SKUs.</a:t>
            </a:r>
          </a:p>
          <a:p>
            <a:pPr>
              <a:spcAft>
                <a:spcPts val="1000"/>
              </a:spcAft>
              <a:defRPr sz="1600">
                <a:solidFill>
                  <a:srgbClr val="1C2722"/>
                </a:solidFill>
              </a:defRPr>
            </a:pPr>
            <a:r>
              <a:t>Do not promise margins until supplier quotations and a pilot batch are completed.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863"/>
                </a:solidFill>
              </a:defRPr>
            </a:pPr>
            <a:r>
              <a:t>PROTEENSNAX  |  Pitch Deck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4D3A"/>
                </a:solidFill>
              </a:defRPr>
            </a:pPr>
            <a:r>
              <a:t>Competitive landscape: where PROTEENSNAX can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863"/>
                </a:solidFill>
              </a:defRPr>
            </a:pPr>
            <a:r>
              <a:t>Current prices are observed online and can change with promotions.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2103120" cy="502920"/>
          </a:xfrm>
          <a:prstGeom prst="rect">
            <a:avLst/>
          </a:prstGeom>
          <a:solidFill>
            <a:srgbClr val="13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Brand / format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39" y="1234440"/>
            <a:ext cx="1554480" cy="502920"/>
          </a:xfrm>
          <a:prstGeom prst="rect">
            <a:avLst/>
          </a:prstGeom>
          <a:solidFill>
            <a:srgbClr val="13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Observed price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0520" y="1234440"/>
            <a:ext cx="3017520" cy="502920"/>
          </a:xfrm>
          <a:prstGeom prst="rect">
            <a:avLst/>
          </a:prstGeom>
          <a:solidFill>
            <a:srgbClr val="13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What they do well</a:t>
            </a:r>
          </a:p>
        </p:txBody>
      </p:sp>
      <p:sp>
        <p:nvSpPr>
          <p:cNvPr id="8" name="Rectangle 7"/>
          <p:cNvSpPr/>
          <p:nvPr/>
        </p:nvSpPr>
        <p:spPr>
          <a:xfrm>
            <a:off x="7178040" y="1234440"/>
            <a:ext cx="4572000" cy="502920"/>
          </a:xfrm>
          <a:prstGeom prst="rect">
            <a:avLst/>
          </a:prstGeom>
          <a:solidFill>
            <a:srgbClr val="13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Our opportunity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21031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C2722"/>
                </a:solidFill>
              </a:defRPr>
            </a:pPr>
            <a:r>
              <a:t>MuscleBlaze whey 1kg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39" y="1737360"/>
            <a:ext cx="15544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C2722"/>
                </a:solidFill>
              </a:defRPr>
            </a:pPr>
            <a:r>
              <a:t>~₹3,999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737360"/>
            <a:ext cx="30175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C2722"/>
                </a:solidFill>
              </a:defRPr>
            </a:pPr>
            <a:r>
              <a:t>Strong gym brand + whey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1737360"/>
            <a:ext cx="4572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C2722"/>
                </a:solidFill>
              </a:defRPr>
            </a:pPr>
            <a:r>
              <a:t>Mass affordability + everyday snacks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51760"/>
            <a:ext cx="21031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C2722"/>
                </a:solidFill>
              </a:defRPr>
            </a:pPr>
            <a:r>
              <a:t>Amul whey sachets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39" y="2651760"/>
            <a:ext cx="15544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C2722"/>
                </a:solidFill>
              </a:defRPr>
            </a:pPr>
            <a:r>
              <a:t>₹2,400 / 30×32g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2651760"/>
            <a:ext cx="30175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C2722"/>
                </a:solidFill>
              </a:defRPr>
            </a:pPr>
            <a:r>
              <a:t>Accessible sachet format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2651760"/>
            <a:ext cx="4572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C2722"/>
                </a:solidFill>
              </a:defRPr>
            </a:pPr>
            <a:r>
              <a:t>More flavours + broader snack ecosystem + QR COA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66160"/>
            <a:ext cx="21031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C2722"/>
                </a:solidFill>
              </a:defRPr>
            </a:pPr>
            <a:r>
              <a:t>Yoga Bar 20g bar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39" y="3566160"/>
            <a:ext cx="15544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C2722"/>
                </a:solidFill>
              </a:defRPr>
            </a:pPr>
            <a:r>
              <a:t>₹125 single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3566160"/>
            <a:ext cx="30175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C2722"/>
                </a:solidFill>
              </a:defRPr>
            </a:pPr>
            <a:r>
              <a:t>Mass snack distribution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3566160"/>
            <a:ext cx="4572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C2722"/>
                </a:solidFill>
              </a:defRPr>
            </a:pPr>
            <a:r>
              <a:t>Indian savoury protein range + lower target price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480560"/>
            <a:ext cx="21031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C2722"/>
                </a:solidFill>
              </a:defRPr>
            </a:pPr>
            <a:r>
              <a:t>The Whole Truth 20g Pro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39" y="4480560"/>
            <a:ext cx="15544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C2722"/>
                </a:solidFill>
              </a:defRPr>
            </a:pPr>
            <a:r>
              <a:t>₹825 /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4480560"/>
            <a:ext cx="30175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C2722"/>
                </a:solidFill>
              </a:defRPr>
            </a:pPr>
            <a:r>
              <a:t>Clean-label positioning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78040" y="4480560"/>
            <a:ext cx="4572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C2722"/>
                </a:solidFill>
              </a:defRPr>
            </a:pPr>
            <a:r>
              <a:t>Price accessibility + traditional Indian formats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863"/>
                </a:solidFill>
              </a:defRPr>
            </a:pPr>
            <a:r>
              <a:t>PROTEENSNAX  |  Pitch Deck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4D3A"/>
                </a:solidFill>
              </a:defRPr>
            </a:pPr>
            <a:r>
              <a:t>Why customers choose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863"/>
                </a:solidFill>
              </a:defRPr>
            </a:pPr>
            <a:r>
              <a:t>The moat is not 'cheap protein' — it is trust + formats + affordability.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B6C14"/>
                </a:solidFill>
              </a:defRPr>
            </a:pPr>
            <a:r>
              <a:t>01  25g protein access</a:t>
            </a:r>
          </a:p>
          <a:p>
            <a:pPr>
              <a:defRPr sz="1100">
                <a:solidFill>
                  <a:srgbClr val="1C2722"/>
                </a:solidFill>
              </a:defRPr>
            </a:pPr>
            <a:r>
              <a:t>A clear serving promise across powder + sachet formats.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2588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B6C14"/>
                </a:solidFill>
              </a:defRPr>
            </a:pPr>
            <a:r>
              <a:t>02  Batch-level proof</a:t>
            </a:r>
          </a:p>
          <a:p>
            <a:pPr>
              <a:defRPr sz="1100">
                <a:solidFill>
                  <a:srgbClr val="1C2722"/>
                </a:solidFill>
              </a:defRPr>
            </a:pPr>
            <a:r>
              <a:t>QR-linked COA creates visible quality transparency.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32588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B6C14"/>
                </a:solidFill>
              </a:defRPr>
            </a:pPr>
            <a:r>
              <a:t>03  Indian snack innovation</a:t>
            </a:r>
          </a:p>
          <a:p>
            <a:pPr>
              <a:defRPr sz="1100">
                <a:solidFill>
                  <a:srgbClr val="1C2722"/>
                </a:solidFill>
              </a:defRPr>
            </a:pPr>
            <a:r>
              <a:t>Bhujia, khakhra, murukku, makhana, chana &amp; bites.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4747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B6C14"/>
                </a:solidFill>
              </a:defRPr>
            </a:pPr>
            <a:r>
              <a:t>04  Multi-protein platform</a:t>
            </a:r>
          </a:p>
          <a:p>
            <a:pPr>
              <a:defRPr sz="1100">
                <a:solidFill>
                  <a:srgbClr val="1C2722"/>
                </a:solidFill>
              </a:defRPr>
            </a:pPr>
            <a:r>
              <a:t>Whey + plant + bio-fermented yeast formulations.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4747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B6C14"/>
                </a:solidFill>
              </a:defRPr>
            </a:pPr>
            <a:r>
              <a:t>05  Price ladder</a:t>
            </a:r>
          </a:p>
          <a:p>
            <a:pPr>
              <a:defRPr sz="1100">
                <a:solidFill>
                  <a:srgbClr val="1C2722"/>
                </a:solidFill>
              </a:defRPr>
            </a:pPr>
            <a:r>
              <a:t>₹59 snack → ₹79 sachet → ₹1,599 powder.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34747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B6C14"/>
                </a:solidFill>
              </a:defRPr>
            </a:pPr>
            <a:r>
              <a:t>06  Education-led brand</a:t>
            </a:r>
          </a:p>
          <a:p>
            <a:pPr>
              <a:defRPr sz="1100">
                <a:solidFill>
                  <a:srgbClr val="1C2722"/>
                </a:solidFill>
              </a:defRPr>
            </a:pPr>
            <a:r>
              <a:t>Protein calculator, QR education and simple serving guidance.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863"/>
                </a:solidFill>
              </a:defRPr>
            </a:pPr>
            <a:r>
              <a:t>PROTEENSNAX  |  Pitch Deck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4D3A"/>
                </a:solidFill>
              </a:defRPr>
            </a:pPr>
            <a:r>
              <a:t>Go-to-market: prove before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863"/>
                </a:solidFill>
              </a:defRPr>
            </a:pPr>
            <a:r>
              <a:t>Start narrow, learn fast, then expand.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C2722"/>
                </a:solidFill>
              </a:defRPr>
            </a:pPr>
            <a:r>
              <a:t>Phase 1 — 90 days: D2C website + Instagram + 5–10 gyms + college campuses; launch sachet + 1kg powder + 3 snacks.</a:t>
            </a:r>
          </a:p>
          <a:p>
            <a:pPr>
              <a:spcAft>
                <a:spcPts val="1000"/>
              </a:spcAft>
              <a:defRPr sz="1700">
                <a:solidFill>
                  <a:srgbClr val="1C2722"/>
                </a:solidFill>
              </a:defRPr>
            </a:pPr>
            <a:r>
              <a:t>Phase 2 — 6–12 months: marketplaces, nutrition stores, cafés and regional modern trade.</a:t>
            </a:r>
          </a:p>
          <a:p>
            <a:pPr>
              <a:spcAft>
                <a:spcPts val="1000"/>
              </a:spcAft>
              <a:defRPr sz="1700">
                <a:solidFill>
                  <a:srgbClr val="1C2722"/>
                </a:solidFill>
              </a:defRPr>
            </a:pPr>
            <a:r>
              <a:t>Sampling: ₹69–79 sachet as the first trial; bundle '7-day protein snack challenge'.</a:t>
            </a:r>
          </a:p>
          <a:p>
            <a:pPr>
              <a:spcAft>
                <a:spcPts val="1000"/>
              </a:spcAft>
              <a:defRPr sz="1700">
                <a:solidFill>
                  <a:srgbClr val="1C2722"/>
                </a:solidFill>
              </a:defRPr>
            </a:pPr>
            <a:r>
              <a:t>Retention: monthly powder subscription + snack box; QR results and batch stories reinforce trust.</a:t>
            </a:r>
          </a:p>
          <a:p>
            <a:pPr>
              <a:spcAft>
                <a:spcPts val="1000"/>
              </a:spcAft>
              <a:defRPr sz="1700">
                <a:solidFill>
                  <a:srgbClr val="1C2722"/>
                </a:solidFill>
              </a:defRPr>
            </a:pPr>
            <a:r>
              <a:t>Measure: repeat purchase, CAC, gross margin, sachet-to-tub conversion, complaints, taste score and protein-per-rupee.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863"/>
                </a:solidFill>
              </a:defRPr>
            </a:pPr>
            <a:r>
              <a:t>PROTEENSNAX  |  Pitch Deck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4D3A"/>
                </a:solidFill>
              </a:defRPr>
            </a:pPr>
            <a:r>
              <a:t>Business model &amp;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863"/>
                </a:solidFill>
              </a:defRPr>
            </a:pPr>
            <a:r>
              <a:t>A portfolio model reduces dependence on a single protein SKU.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20116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34D3A"/>
                </a:solidFill>
              </a:defRPr>
            </a:pPr>
            <a:r>
              <a:t>Powder</a:t>
            </a:r>
          </a:p>
          <a:p>
            <a:pPr algn="ctr">
              <a:defRPr sz="1100">
                <a:solidFill>
                  <a:srgbClr val="1C2722"/>
                </a:solidFill>
              </a:defRPr>
            </a:pPr>
            <a:r>
              <a:t>High ticket + repeat purchase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7208" y="1508760"/>
            <a:ext cx="20116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34D3A"/>
                </a:solidFill>
              </a:defRPr>
            </a:pPr>
            <a:r>
              <a:t>Sachets</a:t>
            </a:r>
          </a:p>
          <a:p>
            <a:pPr algn="ctr">
              <a:defRPr sz="1100">
                <a:solidFill>
                  <a:srgbClr val="1C2722"/>
                </a:solidFill>
              </a:defRPr>
            </a:pPr>
            <a:r>
              <a:t>Low-risk trial + sampling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11496" y="1508760"/>
            <a:ext cx="20116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34D3A"/>
                </a:solidFill>
              </a:defRPr>
            </a:pPr>
            <a:r>
              <a:t>Bars</a:t>
            </a:r>
          </a:p>
          <a:p>
            <a:pPr algn="ctr">
              <a:defRPr sz="1100">
                <a:solidFill>
                  <a:srgbClr val="1C2722"/>
                </a:solidFill>
              </a:defRPr>
            </a:pPr>
            <a:r>
              <a:t>Impulse / on-the-go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15784" y="1508760"/>
            <a:ext cx="20116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34D3A"/>
                </a:solidFill>
              </a:defRPr>
            </a:pPr>
            <a:r>
              <a:t>Indian snacks</a:t>
            </a:r>
          </a:p>
          <a:p>
            <a:pPr algn="ctr">
              <a:defRPr sz="1100">
                <a:solidFill>
                  <a:srgbClr val="1C2722"/>
                </a:solidFill>
              </a:defRPr>
            </a:pPr>
            <a:r>
              <a:t>High-frequency everyday consumption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20072" y="1508760"/>
            <a:ext cx="20116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34D3A"/>
                </a:solidFill>
              </a:defRPr>
            </a:pPr>
            <a:r>
              <a:t>B2B</a:t>
            </a:r>
          </a:p>
          <a:p>
            <a:pPr algn="ctr">
              <a:defRPr sz="1100">
                <a:solidFill>
                  <a:srgbClr val="1C2722"/>
                </a:solidFill>
              </a:defRPr>
            </a:pPr>
            <a:r>
              <a:t>Gyms, colleges, offices, cafés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C2722"/>
                </a:solidFill>
              </a:defRPr>
            </a:pPr>
            <a:r>
              <a:t>Long-term: build a 'protein operating system' — one verified ingredient platform powering multiple affordable formats.</a:t>
            </a:r>
          </a:p>
          <a:p>
            <a:pPr>
              <a:spcAft>
                <a:spcPts val="1000"/>
              </a:spcAft>
              <a:defRPr sz="1600">
                <a:solidFill>
                  <a:srgbClr val="1C2722"/>
                </a:solidFill>
              </a:defRPr>
            </a:pPr>
            <a:r>
              <a:t>Potential moat: formulation know-how + supplier network + batch transparency + consumer data + Indian taste library.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863"/>
                </a:solidFill>
              </a:defRPr>
            </a:pPr>
            <a:r>
              <a:t>PROTEENSNAX  |  Pitch Deck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81381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24E3D"/>
                </a:solidFill>
                <a:latin typeface="Aptos Display"/>
              </a:rPr>
              <a:t>CAPEX &amp; OPEX — 90-Day Pilot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78992"/>
            <a:ext cx="93268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414E46"/>
                </a:solidFill>
                <a:latin typeface="Aptos"/>
              </a:rPr>
              <a:t>Illustrative allocation of the ₹10 lakh pilot budget; validate with vendor quotes before launch.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49640" y="484632"/>
            <a:ext cx="2057400" cy="932688"/>
          </a:xfrm>
          <a:prstGeom prst="roundRect">
            <a:avLst/>
          </a:prstGeom>
          <a:solidFill>
            <a:srgbClr val="124E3D"/>
          </a:solidFill>
          <a:ln w="12700">
            <a:solidFill>
              <a:srgbClr val="12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594360"/>
            <a:ext cx="1691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₹10 LAKH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914400"/>
            <a:ext cx="16916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0">
                <a:solidFill>
                  <a:srgbClr val="EBF5F0"/>
                </a:solidFill>
                <a:latin typeface="Aptos"/>
              </a:rPr>
              <a:t>Pilot budget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4709160" cy="370332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D0C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4709160" cy="91440"/>
          </a:xfrm>
          <a:prstGeom prst="rect">
            <a:avLst/>
          </a:prstGeom>
          <a:solidFill>
            <a:srgbClr val="124E3D"/>
          </a:solidFill>
          <a:ln w="12700">
            <a:solidFill>
              <a:srgbClr val="12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057400"/>
            <a:ext cx="1554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24E3D"/>
                </a:solidFill>
                <a:latin typeface="Aptos Display"/>
              </a:rPr>
              <a:t>CAPEX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011680"/>
            <a:ext cx="16002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700" b="1">
                <a:solidFill>
                  <a:srgbClr val="EB6B08"/>
                </a:solidFill>
                <a:latin typeface="Aptos Display"/>
              </a:rPr>
              <a:t>₹2.5 LAKH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2679191"/>
            <a:ext cx="201168" cy="201168"/>
          </a:xfrm>
          <a:prstGeom prst="ellipse">
            <a:avLst/>
          </a:prstGeom>
          <a:solidFill>
            <a:srgbClr val="124E3D"/>
          </a:solidFill>
          <a:ln w="12700">
            <a:solidFill>
              <a:srgbClr val="12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6403" y="2647188"/>
            <a:ext cx="2286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615184"/>
            <a:ext cx="37947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A4039"/>
                </a:solidFill>
                <a:latin typeface="Aptos"/>
              </a:rPr>
              <a:t>Basic production / packing equipment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3319271"/>
            <a:ext cx="201168" cy="201168"/>
          </a:xfrm>
          <a:prstGeom prst="ellipse">
            <a:avLst/>
          </a:prstGeom>
          <a:solidFill>
            <a:srgbClr val="124E3D"/>
          </a:solidFill>
          <a:ln w="12700">
            <a:solidFill>
              <a:srgbClr val="12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3" y="3287268"/>
            <a:ext cx="2286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3255263"/>
            <a:ext cx="37947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A4039"/>
                </a:solidFill>
                <a:latin typeface="Aptos"/>
              </a:rPr>
              <a:t>Initial testing &amp; QC setup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3959352"/>
            <a:ext cx="201168" cy="201168"/>
          </a:xfrm>
          <a:prstGeom prst="ellipse">
            <a:avLst/>
          </a:prstGeom>
          <a:solidFill>
            <a:srgbClr val="124E3D"/>
          </a:solidFill>
          <a:ln w="12700">
            <a:solidFill>
              <a:srgbClr val="12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3" y="3927348"/>
            <a:ext cx="2286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3895344"/>
            <a:ext cx="37947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A4039"/>
                </a:solidFill>
                <a:latin typeface="Aptos"/>
              </a:rPr>
              <a:t>Website, domain &amp; essential tech setup</a:t>
            </a:r>
          </a:p>
        </p:txBody>
      </p:sp>
      <p:sp>
        <p:nvSpPr>
          <p:cNvPr id="20" name="Oval 19"/>
          <p:cNvSpPr/>
          <p:nvPr/>
        </p:nvSpPr>
        <p:spPr>
          <a:xfrm>
            <a:off x="960120" y="4599432"/>
            <a:ext cx="201168" cy="201168"/>
          </a:xfrm>
          <a:prstGeom prst="ellipse">
            <a:avLst/>
          </a:prstGeom>
          <a:solidFill>
            <a:srgbClr val="124E3D"/>
          </a:solidFill>
          <a:ln w="12700">
            <a:solidFill>
              <a:srgbClr val="12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3" y="4567428"/>
            <a:ext cx="2286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4535424"/>
            <a:ext cx="37947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A4039"/>
                </a:solidFill>
                <a:latin typeface="Aptos"/>
              </a:rPr>
              <a:t>Reusable launch assets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32120" y="1783080"/>
            <a:ext cx="4709160" cy="370332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D0C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32120" y="1783080"/>
            <a:ext cx="4709160" cy="91440"/>
          </a:xfrm>
          <a:prstGeom prst="rect">
            <a:avLst/>
          </a:prstGeom>
          <a:solidFill>
            <a:srgbClr val="EB6B08"/>
          </a:solidFill>
          <a:ln w="12700">
            <a:solidFill>
              <a:srgbClr val="EB6B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88152" y="2057400"/>
            <a:ext cx="1554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24E3D"/>
                </a:solidFill>
                <a:latin typeface="Aptos Display"/>
              </a:rPr>
              <a:t>OPEX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011680"/>
            <a:ext cx="16002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700" b="1">
                <a:solidFill>
                  <a:srgbClr val="EB6B08"/>
                </a:solidFill>
                <a:latin typeface="Aptos Display"/>
              </a:rPr>
              <a:t>₹7.5 LAKH</a:t>
            </a:r>
          </a:p>
        </p:txBody>
      </p:sp>
      <p:sp>
        <p:nvSpPr>
          <p:cNvPr id="27" name="Oval 26"/>
          <p:cNvSpPr/>
          <p:nvPr/>
        </p:nvSpPr>
        <p:spPr>
          <a:xfrm>
            <a:off x="5806440" y="2679191"/>
            <a:ext cx="201168" cy="201168"/>
          </a:xfrm>
          <a:prstGeom prst="ellipse">
            <a:avLst/>
          </a:prstGeom>
          <a:solidFill>
            <a:srgbClr val="124E3D"/>
          </a:solidFill>
          <a:ln w="12700">
            <a:solidFill>
              <a:srgbClr val="12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92724" y="2647188"/>
            <a:ext cx="2286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9048" y="2615184"/>
            <a:ext cx="37947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A4039"/>
                </a:solidFill>
                <a:latin typeface="Aptos"/>
              </a:rPr>
              <a:t>Formulation &amp; accredited lab testing</a:t>
            </a:r>
          </a:p>
        </p:txBody>
      </p:sp>
      <p:sp>
        <p:nvSpPr>
          <p:cNvPr id="30" name="Oval 29"/>
          <p:cNvSpPr/>
          <p:nvPr/>
        </p:nvSpPr>
        <p:spPr>
          <a:xfrm>
            <a:off x="5806440" y="3319271"/>
            <a:ext cx="201168" cy="201168"/>
          </a:xfrm>
          <a:prstGeom prst="ellipse">
            <a:avLst/>
          </a:prstGeom>
          <a:solidFill>
            <a:srgbClr val="124E3D"/>
          </a:solidFill>
          <a:ln w="12700">
            <a:solidFill>
              <a:srgbClr val="12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92724" y="3287268"/>
            <a:ext cx="2286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9048" y="3255263"/>
            <a:ext cx="37947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A4039"/>
                </a:solidFill>
                <a:latin typeface="Aptos"/>
              </a:rPr>
              <a:t>Raw materials + packaging for pilot</a:t>
            </a:r>
          </a:p>
        </p:txBody>
      </p:sp>
      <p:sp>
        <p:nvSpPr>
          <p:cNvPr id="33" name="Oval 32"/>
          <p:cNvSpPr/>
          <p:nvPr/>
        </p:nvSpPr>
        <p:spPr>
          <a:xfrm>
            <a:off x="5806440" y="3959352"/>
            <a:ext cx="201168" cy="201168"/>
          </a:xfrm>
          <a:prstGeom prst="ellipse">
            <a:avLst/>
          </a:prstGeom>
          <a:solidFill>
            <a:srgbClr val="124E3D"/>
          </a:solidFill>
          <a:ln w="12700">
            <a:solidFill>
              <a:srgbClr val="12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92724" y="3927348"/>
            <a:ext cx="2286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9048" y="3895344"/>
            <a:ext cx="37947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A4039"/>
                </a:solidFill>
                <a:latin typeface="Aptos"/>
              </a:rPr>
              <a:t>Sampling, digital marketing &amp; launch</a:t>
            </a:r>
          </a:p>
        </p:txBody>
      </p:sp>
      <p:sp>
        <p:nvSpPr>
          <p:cNvPr id="36" name="Oval 35"/>
          <p:cNvSpPr/>
          <p:nvPr/>
        </p:nvSpPr>
        <p:spPr>
          <a:xfrm>
            <a:off x="5806440" y="4599432"/>
            <a:ext cx="201168" cy="201168"/>
          </a:xfrm>
          <a:prstGeom prst="ellipse">
            <a:avLst/>
          </a:prstGeom>
          <a:solidFill>
            <a:srgbClr val="124E3D"/>
          </a:solidFill>
          <a:ln w="12700">
            <a:solidFill>
              <a:srgbClr val="124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92724" y="4567428"/>
            <a:ext cx="2286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9048" y="4535424"/>
            <a:ext cx="37947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A4039"/>
                </a:solidFill>
                <a:latin typeface="Aptos"/>
              </a:rPr>
              <a:t>Logistics, admin &amp; team operating costs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596128"/>
            <a:ext cx="9555480" cy="475488"/>
          </a:xfrm>
          <a:prstGeom prst="roundRect">
            <a:avLst/>
          </a:prstGeom>
          <a:solidFill>
            <a:srgbClr val="E8EFE7"/>
          </a:solidFill>
          <a:ln w="12700">
            <a:solidFill>
              <a:srgbClr val="CE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486400"/>
            <a:ext cx="9098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24E3D"/>
                </a:solidFill>
                <a:latin typeface="Aptos"/>
              </a:rPr>
              <a:t>Budget logic: keep fixed investment lean by using contract manufacturing, and put more cash into product validation + customer acquisition.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6062472"/>
            <a:ext cx="91440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0">
                <a:solidFill>
                  <a:srgbClr val="4A5750"/>
                </a:solidFill>
                <a:latin typeface="Aptos"/>
              </a:rPr>
              <a:t>PROTEENSNAX  |  Pitch Deck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2DCAE"/>
                </a:solidFill>
              </a:defRPr>
            </a:pPr>
            <a:r>
              <a:t>THE ASK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Build the first affordable, verifiable Indian protein-snacking brand.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C2722"/>
                </a:solidFill>
              </a:defRPr>
            </a:pPr>
            <a:r>
              <a:t>Pilot formulation + accredited lab testing</a:t>
            </a:r>
          </a:p>
          <a:p>
            <a:pPr>
              <a:spcAft>
                <a:spcPts val="1000"/>
              </a:spcAft>
              <a:defRPr sz="1900">
                <a:solidFill>
                  <a:srgbClr val="1C2722"/>
                </a:solidFill>
              </a:defRPr>
            </a:pPr>
            <a:r>
              <a:t>₹10–15 lakh pre-seed target for prototype, testing, packaging, sampling &amp; D2C launch</a:t>
            </a:r>
          </a:p>
          <a:p>
            <a:pPr>
              <a:spcAft>
                <a:spcPts val="1000"/>
              </a:spcAft>
              <a:defRPr sz="1900">
                <a:solidFill>
                  <a:srgbClr val="1C2722"/>
                </a:solidFill>
              </a:defRPr>
            </a:pPr>
            <a:r>
              <a:t>90-day proof: 1,000 paid customers + repeat-rate and unit-economics validation</a:t>
            </a:r>
          </a:p>
          <a:p>
            <a:pPr>
              <a:spcAft>
                <a:spcPts val="1000"/>
              </a:spcAft>
              <a:defRPr sz="1900">
                <a:solidFill>
                  <a:srgbClr val="1C2722"/>
                </a:solidFill>
              </a:defRPr>
            </a:pPr>
            <a:r>
              <a:t>Scale only after taste, safety, repeat purchase and gross margin are proven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2DCAE"/>
                </a:solidFill>
              </a:defRPr>
            </a:pPr>
            <a:r>
              <a:t>PROTEENSNAX  •  Good Protein. Great Food. Real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863"/>
                </a:solidFill>
              </a:defRPr>
            </a:pPr>
            <a:r>
              <a:t>PROTEENSNAX  |  Pitch Deck  |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